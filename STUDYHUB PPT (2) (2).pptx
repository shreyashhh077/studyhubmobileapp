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</p:sldIdLst>
  <p:sldSz cx="9144000" cy="5143500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9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5309"/>
            <a:ext cx="73152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4885432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276350"/>
          </a:xfrm>
          <a:custGeom>
            <a:avLst/>
            <a:gdLst/>
            <a:ahLst/>
            <a:cxnLst/>
            <a:rect l="l" t="t" r="r" b="b"/>
            <a:pathLst>
              <a:path w="9144000" h="1276350">
                <a:moveTo>
                  <a:pt x="9143619" y="0"/>
                </a:moveTo>
                <a:lnTo>
                  <a:pt x="0" y="0"/>
                </a:lnTo>
                <a:lnTo>
                  <a:pt x="0" y="1276223"/>
                </a:lnTo>
                <a:lnTo>
                  <a:pt x="9143619" y="1276223"/>
                </a:lnTo>
                <a:lnTo>
                  <a:pt x="9143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0"/>
            <a:ext cx="7391400" cy="1295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276350"/>
          </a:xfrm>
          <a:custGeom>
            <a:avLst/>
            <a:gdLst/>
            <a:ahLst/>
            <a:cxnLst/>
            <a:rect l="l" t="t" r="r" b="b"/>
            <a:pathLst>
              <a:path w="9144000" h="1276350">
                <a:moveTo>
                  <a:pt x="9143619" y="0"/>
                </a:moveTo>
                <a:lnTo>
                  <a:pt x="0" y="0"/>
                </a:lnTo>
                <a:lnTo>
                  <a:pt x="0" y="1276223"/>
                </a:lnTo>
                <a:lnTo>
                  <a:pt x="9143619" y="1276223"/>
                </a:lnTo>
                <a:lnTo>
                  <a:pt x="9143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1035" y="352805"/>
            <a:ext cx="3741928" cy="647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3357" y="2343467"/>
            <a:ext cx="8645525" cy="140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637" y="2776569"/>
            <a:ext cx="5162550" cy="1152525"/>
          </a:xfrm>
          <a:prstGeom prst="rect">
            <a:avLst/>
          </a:prstGeom>
          <a:ln w="9588">
            <a:solidFill>
              <a:srgbClr val="970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79375" marR="3185160">
              <a:lnSpc>
                <a:spcPct val="101000"/>
              </a:lnSpc>
              <a:spcBef>
                <a:spcPts val="560"/>
              </a:spcBef>
            </a:pPr>
            <a:r>
              <a:rPr sz="1400" dirty="0">
                <a:solidFill>
                  <a:srgbClr val="970000"/>
                </a:solidFill>
                <a:latin typeface="Arial MT"/>
                <a:cs typeface="Arial MT"/>
              </a:rPr>
              <a:t>Domain:</a:t>
            </a:r>
            <a:r>
              <a:rPr sz="1400" spc="-40" dirty="0">
                <a:solidFill>
                  <a:srgbClr val="97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970000"/>
                </a:solidFill>
                <a:latin typeface="Arial MT"/>
                <a:cs typeface="Arial MT"/>
              </a:rPr>
              <a:t>Software </a:t>
            </a:r>
            <a:r>
              <a:rPr sz="1400" dirty="0">
                <a:solidFill>
                  <a:srgbClr val="970000"/>
                </a:solidFill>
                <a:latin typeface="Arial MT"/>
                <a:cs typeface="Arial MT"/>
              </a:rPr>
              <a:t>Group</a:t>
            </a:r>
            <a:r>
              <a:rPr sz="1400" spc="-5" dirty="0">
                <a:solidFill>
                  <a:srgbClr val="97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970000"/>
                </a:solidFill>
                <a:latin typeface="Arial MT"/>
                <a:cs typeface="Arial MT"/>
              </a:rPr>
              <a:t>Members: </a:t>
            </a:r>
            <a:r>
              <a:rPr sz="1400" dirty="0">
                <a:solidFill>
                  <a:srgbClr val="970000"/>
                </a:solidFill>
                <a:latin typeface="Arial MT"/>
                <a:cs typeface="Arial MT"/>
              </a:rPr>
              <a:t>Member1:Hitesh</a:t>
            </a:r>
            <a:r>
              <a:rPr sz="1400" spc="-75" dirty="0">
                <a:solidFill>
                  <a:srgbClr val="97000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970000"/>
                </a:solidFill>
                <a:latin typeface="Arial MT"/>
                <a:cs typeface="Arial MT"/>
              </a:rPr>
              <a:t>Ghuge</a:t>
            </a:r>
            <a:endParaRPr sz="1400">
              <a:latin typeface="Arial MT"/>
              <a:cs typeface="Arial MT"/>
            </a:endParaRPr>
          </a:p>
          <a:p>
            <a:pPr marL="79375">
              <a:lnSpc>
                <a:spcPts val="1655"/>
              </a:lnSpc>
            </a:pPr>
            <a:r>
              <a:rPr sz="1400" dirty="0">
                <a:solidFill>
                  <a:srgbClr val="970000"/>
                </a:solidFill>
                <a:latin typeface="Arial MT"/>
                <a:cs typeface="Arial MT"/>
              </a:rPr>
              <a:t>Member</a:t>
            </a:r>
            <a:r>
              <a:rPr sz="1400" spc="-50" dirty="0">
                <a:solidFill>
                  <a:srgbClr val="97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970000"/>
                </a:solidFill>
                <a:latin typeface="Arial MT"/>
                <a:cs typeface="Arial MT"/>
              </a:rPr>
              <a:t>2:Shreyash</a:t>
            </a:r>
            <a:r>
              <a:rPr sz="1400" spc="-35" dirty="0">
                <a:solidFill>
                  <a:srgbClr val="97000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970000"/>
                </a:solidFill>
                <a:latin typeface="Arial MT"/>
                <a:cs typeface="Arial MT"/>
              </a:rPr>
              <a:t>Garud</a:t>
            </a:r>
            <a:endParaRPr sz="1400">
              <a:latin typeface="Arial MT"/>
              <a:cs typeface="Arial MT"/>
            </a:endParaRPr>
          </a:p>
          <a:p>
            <a:pPr marL="79375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solidFill>
                  <a:srgbClr val="970000"/>
                </a:solidFill>
                <a:latin typeface="Arial MT"/>
                <a:cs typeface="Arial MT"/>
              </a:rPr>
              <a:t>Member</a:t>
            </a:r>
            <a:r>
              <a:rPr sz="1400" spc="-20" dirty="0">
                <a:solidFill>
                  <a:srgbClr val="97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970000"/>
                </a:solidFill>
                <a:latin typeface="Arial MT"/>
                <a:cs typeface="Arial MT"/>
              </a:rPr>
              <a:t>3:Prasad</a:t>
            </a:r>
            <a:r>
              <a:rPr sz="1400" spc="-55" dirty="0">
                <a:solidFill>
                  <a:srgbClr val="97000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970000"/>
                </a:solidFill>
                <a:latin typeface="Arial MT"/>
                <a:cs typeface="Arial MT"/>
              </a:rPr>
              <a:t>Rane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0187" y="2776569"/>
            <a:ext cx="3686810" cy="295910"/>
          </a:xfrm>
          <a:prstGeom prst="rect">
            <a:avLst/>
          </a:prstGeom>
          <a:ln w="9525">
            <a:solidFill>
              <a:srgbClr val="97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652780">
              <a:lnSpc>
                <a:spcPct val="100000"/>
              </a:lnSpc>
              <a:spcBef>
                <a:spcPts val="570"/>
              </a:spcBef>
            </a:pPr>
            <a:r>
              <a:rPr sz="1400" spc="-10" dirty="0">
                <a:solidFill>
                  <a:srgbClr val="970000"/>
                </a:solidFill>
                <a:latin typeface="Roboto"/>
                <a:cs typeface="Roboto"/>
              </a:rPr>
              <a:t>Mentor</a:t>
            </a:r>
            <a:r>
              <a:rPr sz="1400" spc="-50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970000"/>
                </a:solidFill>
                <a:latin typeface="Roboto"/>
                <a:cs typeface="Roboto"/>
              </a:rPr>
              <a:t>Name:Mrs</a:t>
            </a:r>
            <a:r>
              <a:rPr sz="1400" spc="-10" dirty="0">
                <a:solidFill>
                  <a:srgbClr val="970000"/>
                </a:solidFill>
                <a:latin typeface="Roboto"/>
                <a:cs typeface="Roboto"/>
              </a:rPr>
              <a:t> Rupali</a:t>
            </a:r>
            <a:r>
              <a:rPr sz="1400" spc="-65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970000"/>
                </a:solidFill>
                <a:latin typeface="Roboto"/>
                <a:cs typeface="Roboto"/>
              </a:rPr>
              <a:t>Lohar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1770" y="1520888"/>
            <a:ext cx="33337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970000"/>
                </a:solidFill>
                <a:latin typeface="Roboto"/>
                <a:cs typeface="Roboto"/>
              </a:rPr>
              <a:t>Semester:</a:t>
            </a:r>
            <a:r>
              <a:rPr sz="1400" b="1" spc="-25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970000"/>
                </a:solidFill>
                <a:latin typeface="Roboto"/>
                <a:cs typeface="Roboto"/>
              </a:rPr>
              <a:t>IV/VI/VIII</a:t>
            </a:r>
            <a:r>
              <a:rPr sz="1400" b="1" spc="-40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970000"/>
                </a:solidFill>
                <a:latin typeface="Roboto"/>
                <a:cs typeface="Roboto"/>
              </a:rPr>
              <a:t>Review:</a:t>
            </a:r>
            <a:r>
              <a:rPr sz="1400" b="1" spc="-25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970000"/>
                </a:solidFill>
                <a:latin typeface="Roboto"/>
                <a:cs typeface="Roboto"/>
              </a:rPr>
              <a:t>4.1/</a:t>
            </a:r>
            <a:r>
              <a:rPr sz="1400" b="1" spc="-5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b="1" spc="-10" dirty="0">
                <a:solidFill>
                  <a:srgbClr val="970000"/>
                </a:solidFill>
                <a:latin typeface="Roboto"/>
                <a:cs typeface="Roboto"/>
              </a:rPr>
              <a:t>6.1/</a:t>
            </a:r>
            <a:r>
              <a:rPr sz="1400" b="1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b="1" spc="-25" dirty="0">
                <a:solidFill>
                  <a:srgbClr val="970000"/>
                </a:solidFill>
                <a:latin typeface="Roboto"/>
                <a:cs typeface="Roboto"/>
              </a:rPr>
              <a:t>8.1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1726" y="1824101"/>
            <a:ext cx="5162550" cy="295275"/>
          </a:xfrm>
          <a:prstGeom prst="rect">
            <a:avLst/>
          </a:prstGeom>
          <a:ln w="9525">
            <a:solidFill>
              <a:srgbClr val="970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560"/>
              </a:spcBef>
            </a:pPr>
            <a:r>
              <a:rPr sz="1400" dirty="0">
                <a:solidFill>
                  <a:srgbClr val="970000"/>
                </a:solidFill>
                <a:latin typeface="Roboto"/>
                <a:cs typeface="Roboto"/>
              </a:rPr>
              <a:t>Title</a:t>
            </a:r>
            <a:r>
              <a:rPr sz="1400" spc="-5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970000"/>
                </a:solidFill>
                <a:latin typeface="Roboto"/>
                <a:cs typeface="Roboto"/>
              </a:rPr>
              <a:t>of</a:t>
            </a:r>
            <a:r>
              <a:rPr sz="1400" spc="-40" dirty="0">
                <a:solidFill>
                  <a:srgbClr val="970000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970000"/>
                </a:solidFill>
                <a:latin typeface="Roboto"/>
                <a:cs typeface="Roboto"/>
              </a:rPr>
              <a:t>the </a:t>
            </a:r>
            <a:r>
              <a:rPr sz="1400" spc="-10" dirty="0">
                <a:solidFill>
                  <a:srgbClr val="970000"/>
                </a:solidFill>
                <a:latin typeface="Roboto"/>
                <a:cs typeface="Roboto"/>
              </a:rPr>
              <a:t>Project:StudyHub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359" rIns="0" bIns="0" rtlCol="0">
            <a:spAutoFit/>
          </a:bodyPr>
          <a:lstStyle/>
          <a:p>
            <a:pPr marL="1311910">
              <a:lnSpc>
                <a:spcPct val="100000"/>
              </a:lnSpc>
              <a:spcBef>
                <a:spcPts val="130"/>
              </a:spcBef>
            </a:pPr>
            <a:r>
              <a:rPr b="0" spc="-10" dirty="0">
                <a:latin typeface="Times New Roman" panose="02020603050405020304"/>
                <a:cs typeface="Times New Roman" panose="02020603050405020304"/>
              </a:rPr>
              <a:t>Content</a:t>
            </a:r>
            <a:endParaRPr b="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1504950"/>
            <a:ext cx="3432175" cy="3513455"/>
          </a:xfrm>
          <a:prstGeom prst="rect">
            <a:avLst/>
          </a:prstGeom>
        </p:spPr>
        <p:txBody>
          <a:bodyPr vert="horz" wrap="square" lIns="0" tIns="49530" rIns="0" bIns="0" rtlCol="0">
            <a:no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390"/>
              </a:spcBef>
              <a:buClr>
                <a:srgbClr val="666666"/>
              </a:buClr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305"/>
              </a:spcBef>
              <a:buClr>
                <a:srgbClr val="666666"/>
              </a:buClr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sz="1800" spc="4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225"/>
              </a:spcBef>
              <a:buClr>
                <a:srgbClr val="666666"/>
              </a:buClr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305"/>
              </a:spcBef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</a:t>
            </a:r>
            <a:r>
              <a:rPr sz="1800" spc="7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sz="1800" spc="-5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(Flow</a:t>
            </a:r>
            <a:r>
              <a:rPr sz="1800" spc="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Chart)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230"/>
              </a:spcBef>
              <a:buClr>
                <a:srgbClr val="666666"/>
              </a:buClr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Implementation(Logic)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sz="1800" spc="-35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4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230"/>
              </a:spcBef>
              <a:buClr>
                <a:srgbClr val="666666"/>
              </a:buClr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305"/>
              </a:spcBef>
              <a:buFont typeface="Arial" panose="020B0604020202020204" pitchFamily="34" charset="0"/>
              <a:buChar char="•"/>
              <a:tabLst>
                <a:tab pos="340360" algn="l"/>
              </a:tabLst>
            </a:pPr>
            <a:r>
              <a:rPr sz="1800" spc="-10" dirty="0">
                <a:solidFill>
                  <a:srgbClr val="303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9575" y="95250"/>
            <a:ext cx="6858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0"/>
              </a:spcBef>
            </a:pPr>
            <a:r>
              <a:rPr dirty="0"/>
              <a:t>Introduction</a:t>
            </a:r>
            <a:r>
              <a:rPr spc="45" dirty="0"/>
              <a:t> </a:t>
            </a:r>
            <a:r>
              <a:rPr dirty="0"/>
              <a:t>to </a:t>
            </a:r>
            <a:r>
              <a:rPr spc="-10" dirty="0"/>
              <a:t>Project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9575" y="95250"/>
            <a:ext cx="685800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2400" y="1376680"/>
            <a:ext cx="8216265" cy="363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638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298450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StudyHub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sz="1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transforming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collaborative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learning.</a:t>
            </a:r>
            <a:r>
              <a:rPr sz="1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envision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world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sharing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seamless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impactful,</a:t>
            </a:r>
            <a:r>
              <a:rPr sz="1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unlocking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student.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sz="1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clear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i.e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bridge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gap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learners and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educators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providing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centralized,</a:t>
            </a:r>
            <a:r>
              <a:rPr sz="18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student-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driven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platform.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firmly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believe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grows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stronger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shared,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fostering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curiosity,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collaboration,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creativity.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sz="18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latin typeface="Arial" panose="020B0604020202020204" pitchFamily="34" charset="0"/>
                <a:cs typeface="Arial" panose="020B0604020202020204" pitchFamily="34" charset="0"/>
              </a:rPr>
              <a:t>StudyHub?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marR="15875" indent="-286385" algn="just">
              <a:lnSpc>
                <a:spcPct val="100000"/>
              </a:lnSpc>
              <a:spcBef>
                <a:spcPts val="20"/>
              </a:spcBef>
              <a:buChar char="•"/>
              <a:tabLst>
                <a:tab pos="298450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It's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innovative,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student-driven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designed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community.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1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StudyHub,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wide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projects</a:t>
            </a:r>
            <a:r>
              <a:rPr sz="18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resources.</a:t>
            </a:r>
            <a:r>
              <a:rPr sz="1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their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high-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peers,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gaining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their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valuable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contributions.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703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130" dirty="0"/>
              <a:t> </a:t>
            </a:r>
            <a:r>
              <a:rPr spc="-10" dirty="0"/>
              <a:t>Statement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9575" y="95250"/>
            <a:ext cx="685800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475" y="1504950"/>
            <a:ext cx="4519295" cy="334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279400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Scattered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Resources: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 MT"/>
                <a:cs typeface="Arial MT"/>
              </a:rPr>
              <a:t>Students </a:t>
            </a:r>
            <a:r>
              <a:rPr sz="1800" dirty="0">
                <a:latin typeface="Arial MT"/>
                <a:cs typeface="Arial MT"/>
              </a:rPr>
              <a:t>waste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precious 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hunting</a:t>
            </a:r>
            <a:r>
              <a:rPr sz="1800" spc="-25" dirty="0">
                <a:latin typeface="Arial MT"/>
                <a:cs typeface="Arial MT"/>
              </a:rPr>
              <a:t> for </a:t>
            </a:r>
            <a:r>
              <a:rPr sz="1800" dirty="0">
                <a:latin typeface="Arial MT"/>
                <a:cs typeface="Arial MT"/>
              </a:rPr>
              <a:t>quality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materials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countless </a:t>
            </a:r>
            <a:r>
              <a:rPr sz="1800" dirty="0">
                <a:latin typeface="Arial MT"/>
                <a:cs typeface="Arial MT"/>
              </a:rPr>
              <a:t>drives,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websites,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messaging apps.</a:t>
            </a:r>
            <a:endParaRPr sz="1800">
              <a:latin typeface="Arial MT"/>
              <a:cs typeface="Arial MT"/>
            </a:endParaRPr>
          </a:p>
          <a:p>
            <a:pPr marL="298450" marR="106680" indent="-286385">
              <a:lnSpc>
                <a:spcPct val="101000"/>
              </a:lnSpc>
              <a:buFont typeface="Arial MT"/>
              <a:buChar char="•"/>
              <a:tabLst>
                <a:tab pos="29845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Invisible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Excellence: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 MT"/>
                <a:cs typeface="Arial MT"/>
              </a:rPr>
              <a:t>Brilliant </a:t>
            </a:r>
            <a:r>
              <a:rPr sz="1800" dirty="0">
                <a:latin typeface="Arial MT"/>
                <a:cs typeface="Arial MT"/>
              </a:rPr>
              <a:t>projects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students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faculty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isolation,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their </a:t>
            </a:r>
            <a:r>
              <a:rPr sz="1800" dirty="0">
                <a:latin typeface="Arial MT"/>
                <a:cs typeface="Arial MT"/>
              </a:rPr>
              <a:t>impact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dying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classroom.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ts val="2105"/>
              </a:lnSpc>
              <a:buFont typeface="Arial MT"/>
              <a:buChar char="•"/>
              <a:tabLst>
                <a:tab pos="29845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No</a:t>
            </a:r>
            <a:r>
              <a:rPr sz="18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Collaborative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Engine: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</a:t>
            </a:r>
            <a:endParaRPr sz="1800">
              <a:latin typeface="Arial MT"/>
              <a:cs typeface="Arial MT"/>
            </a:endParaRPr>
          </a:p>
          <a:p>
            <a:pPr marL="298450" marR="5080">
              <a:lnSpc>
                <a:spcPct val="101000"/>
              </a:lnSpc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structured,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rewarding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that </a:t>
            </a:r>
            <a:r>
              <a:rPr sz="1800" dirty="0">
                <a:latin typeface="Arial MT"/>
                <a:cs typeface="Arial MT"/>
              </a:rPr>
              <a:t>encourages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recognizes </a:t>
            </a:r>
            <a:r>
              <a:rPr sz="1800" dirty="0">
                <a:latin typeface="Arial MT"/>
                <a:cs typeface="Arial MT"/>
              </a:rPr>
              <a:t>knowledge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sharing.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0390" y="1276985"/>
            <a:ext cx="4630420" cy="3754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9425" y="147320"/>
            <a:ext cx="662940" cy="10795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884" rIns="0" bIns="0" rtlCol="0">
            <a:spAutoFit/>
          </a:bodyPr>
          <a:lstStyle/>
          <a:p>
            <a:pPr marL="60452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155" dirty="0"/>
              <a:t> </a:t>
            </a:r>
            <a:r>
              <a:rPr spc="-10" dirty="0"/>
              <a:t>Design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76200" y="1372235"/>
            <a:ext cx="4188460" cy="305117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Wingdings" panose="05000000000000000000" charset="0"/>
              <a:buChar char="Ø"/>
              <a:tabLst>
                <a:tab pos="298450" algn="l"/>
              </a:tabLst>
            </a:pPr>
            <a:r>
              <a:rPr lang="en-US" altLang="en-GB" sz="1400" b="1">
                <a:latin typeface="Arial" panose="020B0604020202020204" pitchFamily="34" charset="0"/>
                <a:cs typeface="Arial" panose="020B0604020202020204" pitchFamily="34" charset="0"/>
              </a:rPr>
              <a:t>User Management</a:t>
            </a:r>
            <a:endParaRPr lang="en-US" altLang="en-GB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Secure login with email/Google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Profile with academic info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Contribution tracking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Wingdings" panose="05000000000000000000" charset="0"/>
              <a:buChar char="Ø"/>
              <a:tabLst>
                <a:tab pos="298450" algn="l"/>
              </a:tabLst>
            </a:pPr>
            <a:r>
              <a:rPr lang="en-US" altLang="en-GB" sz="1400" b="1">
                <a:latin typeface="Arial" panose="020B0604020202020204" pitchFamily="34" charset="0"/>
                <a:cs typeface="Arial" panose="020B0604020202020204" pitchFamily="34" charset="0"/>
              </a:rPr>
              <a:t>Resource Hub</a:t>
            </a:r>
            <a:endParaRPr lang="en-US" altLang="en-GB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Categorized by course/subject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Advanced search &amp; filters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PDF preview &amp; one-tap download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Wingdings" panose="05000000000000000000" charset="0"/>
              <a:buChar char="Ø"/>
              <a:tabLst>
                <a:tab pos="298450" algn="l"/>
              </a:tabLst>
            </a:pPr>
            <a:r>
              <a:rPr lang="en-US" altLang="en-GB" sz="1400" b="1">
                <a:latin typeface="Arial" panose="020B0604020202020204" pitchFamily="34" charset="0"/>
                <a:cs typeface="Arial" panose="020B0604020202020204" pitchFamily="34" charset="0"/>
              </a:rPr>
              <a:t>Sharing Engine</a:t>
            </a:r>
            <a:endParaRPr lang="en-US" altLang="en-GB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Easy upload with auto-categorization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File validation (type, size)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Wingdings" panose="05000000000000000000" charset="0"/>
              <a:buChar char="Ø"/>
              <a:tabLst>
                <a:tab pos="298450" algn="l"/>
              </a:tabLst>
            </a:pPr>
            <a:r>
              <a:rPr lang="en-US" altLang="en-GB" sz="1400" b="1">
                <a:latin typeface="Arial" panose="020B0604020202020204" pitchFamily="34" charset="0"/>
                <a:cs typeface="Arial" panose="020B0604020202020204" pitchFamily="34" charset="0"/>
              </a:rPr>
              <a:t>Reward System</a:t>
            </a:r>
            <a:endParaRPr lang="en-US" altLang="en-GB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Points/Stars for uploads (+10) and downloads (+5)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Leaderboards &amp; achievement badges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t>Progress tracking dashboard</a:t>
            </a:r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imag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733550"/>
            <a:ext cx="5779770" cy="304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0" y="1657350"/>
            <a:ext cx="1327785" cy="2895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rcRect t="13876" r="33018"/>
          <a:stretch>
            <a:fillRect/>
          </a:stretch>
        </p:blipFill>
        <p:spPr>
          <a:xfrm>
            <a:off x="5638800" y="1885950"/>
            <a:ext cx="2133600" cy="280416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Objectives</a:t>
            </a:r>
            <a:r>
              <a:rPr spc="7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project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575" y="95250"/>
            <a:ext cx="685800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2400" y="1352550"/>
            <a:ext cx="5342255" cy="3050540"/>
          </a:xfrm>
          <a:prstGeom prst="rect">
            <a:avLst/>
          </a:prstGeom>
        </p:spPr>
        <p:txBody>
          <a:bodyPr vert="horz" wrap="square" lIns="0" tIns="10795" rIns="0" bIns="0" rtlCol="0">
            <a:noAutofit/>
          </a:bodyPr>
          <a:lstStyle/>
          <a:p>
            <a:pPr marL="12700" marR="208280" indent="-9525" algn="just">
              <a:lnSpc>
                <a:spcPct val="101000"/>
              </a:lnSpc>
              <a:spcBef>
                <a:spcPts val="85"/>
              </a:spcBef>
              <a:buSzPct val="94000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	Centralized</a:t>
            </a:r>
            <a:r>
              <a:rPr sz="18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Repository:</a:t>
            </a:r>
            <a:r>
              <a:rPr sz="1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secure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host</a:t>
            </a:r>
            <a:r>
              <a:rPr sz="1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categorize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diverse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resources,</a:t>
            </a:r>
            <a:r>
              <a:rPr sz="1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them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easily discoverable.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40005" indent="-9525" algn="just">
              <a:lnSpc>
                <a:spcPct val="100000"/>
              </a:lnSpc>
              <a:spcBef>
                <a:spcPts val="20"/>
              </a:spcBef>
              <a:buSzPct val="94000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	Facilitate</a:t>
            </a:r>
            <a:r>
              <a:rPr sz="18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Sharing: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simple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mobile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interface,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empower</a:t>
            </a:r>
            <a:r>
              <a:rPr sz="1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easily</a:t>
            </a:r>
            <a:r>
              <a:rPr sz="1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upload,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search,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content,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breaking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down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barriers</a:t>
            </a:r>
            <a:r>
              <a:rPr sz="1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exchange.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about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sharing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r>
              <a:rPr sz="1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1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taps.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-9525" algn="just">
              <a:lnSpc>
                <a:spcPct val="100000"/>
              </a:lnSpc>
              <a:spcBef>
                <a:spcPts val="20"/>
              </a:spcBef>
              <a:buSzPct val="94000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	Performance</a:t>
            </a:r>
            <a:r>
              <a:rPr sz="18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Tracking:</a:t>
            </a:r>
            <a:r>
              <a:rPr sz="1800" b="1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personalized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tracking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their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uploads,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downloads,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accumulated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points,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gasifying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sz="1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recognizing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valuable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contributions.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884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Implementation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95250"/>
            <a:ext cx="9144000" cy="5048250"/>
            <a:chOff x="0" y="95250"/>
            <a:chExt cx="9144000" cy="50482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9575" y="95250"/>
              <a:ext cx="685800" cy="1104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00086"/>
              <a:ext cx="1938401" cy="39434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4575" y="1209611"/>
              <a:ext cx="2081276" cy="39338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2025" y="1209611"/>
              <a:ext cx="2043176" cy="39338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3275" y="1200086"/>
              <a:ext cx="1990725" cy="39434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884" rIns="0" bIns="0" rtlCol="0">
            <a:spAutoFit/>
          </a:bodyPr>
          <a:lstStyle/>
          <a:p>
            <a:pPr marL="702945">
              <a:lnSpc>
                <a:spcPct val="100000"/>
              </a:lnSpc>
              <a:spcBef>
                <a:spcPts val="130"/>
              </a:spcBef>
            </a:pPr>
            <a:r>
              <a:rPr dirty="0"/>
              <a:t>Result</a:t>
            </a:r>
            <a:r>
              <a:rPr spc="110" dirty="0"/>
              <a:t> </a:t>
            </a:r>
            <a:r>
              <a:rPr spc="-10" dirty="0"/>
              <a:t>Analysis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9575" y="95250"/>
            <a:ext cx="685800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" y="1504950"/>
            <a:ext cx="4089400" cy="321754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298450" marR="5080" indent="-28575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sz="18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initial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extremely</a:t>
            </a:r>
            <a:r>
              <a:rPr sz="1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promising.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We're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seeing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accessibility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materials,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higher engagement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willing</a:t>
            </a:r>
            <a:r>
              <a:rPr sz="1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share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their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work,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user-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friendly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interface.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StudyHub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already</a:t>
            </a:r>
            <a:r>
              <a:rPr sz="1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proving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sz="18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ability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foster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connected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collaborative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environment.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0105" y="1427480"/>
            <a:ext cx="4209415" cy="3585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98700" y="2495550"/>
            <a:ext cx="4410075" cy="139509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884" rIns="0" bIns="0" rtlCol="0">
            <a:spAutoFit/>
          </a:bodyPr>
          <a:lstStyle/>
          <a:p>
            <a:pPr marL="102425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85725"/>
            <a:ext cx="685800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315" y="1352550"/>
            <a:ext cx="8903335" cy="140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Solves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Real,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Painful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fixing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universal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sz="18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inefficiency.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2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Built</a:t>
            </a:r>
            <a:r>
              <a:rPr sz="18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Students: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user-centric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ensures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adoption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engagement.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100000"/>
              </a:lnSpc>
              <a:spcBef>
                <a:spcPts val="2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Sustainable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Model: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r>
              <a:rPr sz="1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inherent</a:t>
            </a:r>
            <a:r>
              <a:rPr sz="1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18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join.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80" y="3867150"/>
            <a:ext cx="8903970" cy="11283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97815" marR="5080" indent="-285750" algn="just">
              <a:lnSpc>
                <a:spcPct val="101000"/>
              </a:lnSpc>
              <a:spcBef>
                <a:spcPts val="8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StudyHub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sz="18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just</a:t>
            </a:r>
            <a:r>
              <a:rPr sz="1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it's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towards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collaborative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empowered</a:t>
            </a:r>
            <a:r>
              <a:rPr sz="18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future.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r>
              <a:rPr sz="1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sz="1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sz="1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solves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immediate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scattered</a:t>
            </a:r>
            <a:r>
              <a:rPr sz="18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cultivates</a:t>
            </a:r>
            <a:r>
              <a:rPr sz="1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culture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sharing,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recognition,</a:t>
            </a:r>
            <a:r>
              <a:rPr sz="18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within our</a:t>
            </a:r>
            <a:r>
              <a:rPr sz="18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academic</a:t>
            </a:r>
            <a:r>
              <a:rPr sz="1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community</a:t>
            </a:r>
            <a:endParaRPr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884" rIns="0" bIns="0" rtlCol="0">
            <a:spAutoFit/>
          </a:bodyPr>
          <a:lstStyle/>
          <a:p>
            <a:pPr marL="104521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9575" y="85725"/>
            <a:ext cx="685800" cy="1104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93357" y="2343467"/>
            <a:ext cx="8645525" cy="17075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97815" marR="5080" indent="-285750" algn="just">
              <a:lnSpc>
                <a:spcPct val="101000"/>
              </a:lnSpc>
              <a:spcBef>
                <a:spcPts val="8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altLang="en-GB" spc="-20" dirty="0">
                <a:latin typeface="Arial" panose="020B0604020202020204" pitchFamily="34" charset="0"/>
                <a:cs typeface="Arial" panose="020B0604020202020204" pitchFamily="34" charset="0"/>
              </a:rPr>
              <a:t>Google Developers (2024) Firebase Documentation – Cloud Firestore, Authentication, and Storage.</a:t>
            </a:r>
            <a:endParaRPr lang="en-US" altLang="en-GB" spc="-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1000"/>
              </a:lnSpc>
              <a:spcBef>
                <a:spcPts val="8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altLang="en-GB" spc="-20" dirty="0">
                <a:latin typeface="Arial" panose="020B0604020202020204" pitchFamily="34" charset="0"/>
                <a:cs typeface="Arial" panose="020B0604020202020204" pitchFamily="34" charset="0"/>
              </a:rPr>
              <a:t>Flutter Documentation. (2024). Flutter – Build beautiful native apps in record time. https://flutter.dev/docs.</a:t>
            </a:r>
            <a:endParaRPr lang="en-US" altLang="en-GB" spc="-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7815" marR="5080" indent="-285750" algn="just">
              <a:lnSpc>
                <a:spcPct val="101000"/>
              </a:lnSpc>
              <a:spcBef>
                <a:spcPts val="8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altLang="en-GB" spc="-20" dirty="0">
                <a:latin typeface="Arial" panose="020B0604020202020204" pitchFamily="34" charset="0"/>
                <a:cs typeface="Arial" panose="020B0604020202020204" pitchFamily="34" charset="0"/>
              </a:rPr>
              <a:t>GitHub Open Source Repositories. (2024). Student Resource Sharing Platforms and Study Material Apps. https://github.com/topics/education-app</a:t>
            </a:r>
            <a:endParaRPr lang="en-US" altLang="en-GB"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3826</Words>
  <Application>WPS Presentation</Application>
  <PresentationFormat>On-screen Show (4:3)</PresentationFormat>
  <Paragraphs>79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Arial MT</vt:lpstr>
      <vt:lpstr>Roboto</vt:lpstr>
      <vt:lpstr>Arial</vt:lpstr>
      <vt:lpstr>Times New Roman</vt:lpstr>
      <vt:lpstr>Microsoft YaHei</vt:lpstr>
      <vt:lpstr>Arial Unicode MS</vt:lpstr>
      <vt:lpstr>Wingdings</vt:lpstr>
      <vt:lpstr>Office Theme</vt:lpstr>
      <vt:lpstr>PowerPoint 演示文稿</vt:lpstr>
      <vt:lpstr>Content</vt:lpstr>
      <vt:lpstr>Introduction to Project</vt:lpstr>
      <vt:lpstr>Problem Statement</vt:lpstr>
      <vt:lpstr>Proposed Design</vt:lpstr>
      <vt:lpstr>Objectives of the project</vt:lpstr>
      <vt:lpstr>Implementation</vt:lpstr>
      <vt:lpstr>Result Analysis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hitesh ghuge</cp:lastModifiedBy>
  <cp:revision>6</cp:revision>
  <dcterms:created xsi:type="dcterms:W3CDTF">2025-10-05T07:14:00Z</dcterms:created>
  <dcterms:modified xsi:type="dcterms:W3CDTF">2025-10-05T18:07:31Z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2025-10-01T11:00:00Z</vt:filetime>
  </property>
  <property fmtid="{D5CDD505-2E9C-101B-9397-08002B2CF9AE}" pid="3" name="LastSaved">
    <vt:filetime>2025-10-05T11:00:00Z</vt:filetime>
  </property>
  <property fmtid="{D5CDD505-2E9C-101B-9397-08002B2CF9AE}" pid="4" name="ICV">
    <vt:lpwstr>62DE59F453DC4036834C1133E8DACC7F_12</vt:lpwstr>
  </property>
  <property fmtid="{D5CDD505-2E9C-101B-9397-08002B2CF9AE}" pid="5" name="KSOProductBuildVer">
    <vt:lpwstr>2057-12.2.0.22549</vt:lpwstr>
  </property>
</Properties>
</file>